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7" r:id="rId7"/>
    <p:sldId id="257" r:id="rId8"/>
    <p:sldId id="260" r:id="rId9"/>
    <p:sldId id="259" r:id="rId10"/>
    <p:sldId id="264" r:id="rId11"/>
    <p:sldId id="265" r:id="rId12"/>
    <p:sldId id="266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39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39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62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05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69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73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85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17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938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96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65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794FB-718F-4D41-9F78-23E66416F2B2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DDBC4-2792-4839-BB13-59B7366A1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55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NYKAA ANALYSIS</a:t>
            </a:r>
            <a:endParaRPr lang="en-IN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4008" y="5373216"/>
            <a:ext cx="3848472" cy="553616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KARPAGAM K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41661"/>
            <a:ext cx="196215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7199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AGENDA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Company Overview</a:t>
            </a:r>
          </a:p>
          <a:p>
            <a:r>
              <a:rPr lang="en-US" dirty="0" smtClean="0"/>
              <a:t>Business Model</a:t>
            </a:r>
          </a:p>
          <a:p>
            <a:r>
              <a:rPr lang="en-US" dirty="0" smtClean="0"/>
              <a:t>Market Position</a:t>
            </a:r>
          </a:p>
          <a:p>
            <a:r>
              <a:rPr lang="en-US" dirty="0" smtClean="0"/>
              <a:t>SWOT Analysis</a:t>
            </a:r>
          </a:p>
          <a:p>
            <a:r>
              <a:rPr lang="en-US" dirty="0" smtClean="0"/>
              <a:t>Key Strategies</a:t>
            </a:r>
          </a:p>
          <a:p>
            <a:r>
              <a:rPr lang="en-US" dirty="0" smtClean="0"/>
              <a:t>Conclusion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13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Company Overview</a:t>
            </a:r>
            <a:endParaRPr lang="en-IN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Founded:</a:t>
            </a:r>
            <a:r>
              <a:rPr lang="en-IN" dirty="0" smtClean="0"/>
              <a:t> 2012 by </a:t>
            </a:r>
            <a:r>
              <a:rPr lang="en-IN" dirty="0" err="1" smtClean="0"/>
              <a:t>Falguni</a:t>
            </a:r>
            <a:r>
              <a:rPr lang="en-IN" dirty="0" smtClean="0"/>
              <a:t> </a:t>
            </a:r>
            <a:r>
              <a:rPr lang="en-IN" dirty="0" err="1" smtClean="0"/>
              <a:t>Nayar</a:t>
            </a:r>
            <a:endParaRPr lang="en-IN" dirty="0" smtClean="0"/>
          </a:p>
          <a:p>
            <a:r>
              <a:rPr lang="en-IN" b="1" dirty="0" smtClean="0"/>
              <a:t>Headquarters:</a:t>
            </a:r>
            <a:r>
              <a:rPr lang="en-IN" dirty="0" smtClean="0"/>
              <a:t> Mumbai, India</a:t>
            </a:r>
          </a:p>
          <a:p>
            <a:r>
              <a:rPr lang="en-IN" b="1" dirty="0" smtClean="0"/>
              <a:t>Business Model:</a:t>
            </a:r>
            <a:r>
              <a:rPr lang="en-IN" dirty="0" smtClean="0"/>
              <a:t> Beauty, wellness, personal care, and fashion retail via </a:t>
            </a:r>
            <a:r>
              <a:rPr lang="en-IN" b="1" dirty="0" smtClean="0"/>
              <a:t>online platform + offline stores (</a:t>
            </a:r>
            <a:r>
              <a:rPr lang="en-IN" b="1" dirty="0" err="1" smtClean="0"/>
              <a:t>omnichannel</a:t>
            </a:r>
            <a:r>
              <a:rPr lang="en-IN" b="1" dirty="0" smtClean="0"/>
              <a:t>)</a:t>
            </a:r>
            <a:endParaRPr lang="en-IN" dirty="0" smtClean="0"/>
          </a:p>
          <a:p>
            <a:r>
              <a:rPr lang="en-IN" b="1" dirty="0" smtClean="0"/>
              <a:t>IPO:</a:t>
            </a:r>
            <a:r>
              <a:rPr lang="en-IN" dirty="0" smtClean="0"/>
              <a:t> Listed on NSE &amp; BSE in 2021, one of the most successful Indian </a:t>
            </a:r>
            <a:r>
              <a:rPr lang="en-IN" dirty="0" err="1" smtClean="0"/>
              <a:t>startup</a:t>
            </a:r>
            <a:r>
              <a:rPr lang="en-IN" dirty="0" smtClean="0"/>
              <a:t> IPOs.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75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Business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 smtClean="0"/>
              <a:t>E-commerce Platform</a:t>
            </a:r>
            <a:r>
              <a:rPr lang="en-IN" dirty="0" smtClean="0"/>
              <a:t> – Core business through Nykaa.com and mobile app.</a:t>
            </a:r>
          </a:p>
          <a:p>
            <a:r>
              <a:rPr lang="en-IN" b="1" dirty="0" err="1" smtClean="0"/>
              <a:t>Omnichannel</a:t>
            </a:r>
            <a:r>
              <a:rPr lang="en-IN" b="1" dirty="0" smtClean="0"/>
              <a:t> Retail</a:t>
            </a:r>
            <a:r>
              <a:rPr lang="en-IN" dirty="0" smtClean="0"/>
              <a:t> – Over 100 physical stores across India.</a:t>
            </a:r>
          </a:p>
          <a:p>
            <a:r>
              <a:rPr lang="en-IN" b="1" dirty="0" err="1" smtClean="0"/>
              <a:t>Nykaa</a:t>
            </a:r>
            <a:r>
              <a:rPr lang="en-IN" b="1" dirty="0" smtClean="0"/>
              <a:t> Fashion</a:t>
            </a:r>
            <a:r>
              <a:rPr lang="en-IN" dirty="0" smtClean="0"/>
              <a:t> – Extension into apparel, accessories, and lifestyle.</a:t>
            </a:r>
          </a:p>
          <a:p>
            <a:r>
              <a:rPr lang="en-IN" b="1" dirty="0" smtClean="0"/>
              <a:t>Private Label Products</a:t>
            </a:r>
            <a:r>
              <a:rPr lang="en-IN" dirty="0" smtClean="0"/>
              <a:t> – Own beauty brands (e.g., </a:t>
            </a:r>
            <a:r>
              <a:rPr lang="en-IN" dirty="0" err="1" smtClean="0"/>
              <a:t>Nykaa</a:t>
            </a:r>
            <a:r>
              <a:rPr lang="en-IN" dirty="0" smtClean="0"/>
              <a:t> Cosmetics, </a:t>
            </a:r>
            <a:r>
              <a:rPr lang="en-IN" dirty="0" err="1" smtClean="0"/>
              <a:t>Nykaa</a:t>
            </a:r>
            <a:r>
              <a:rPr lang="en-IN" dirty="0" smtClean="0"/>
              <a:t> Naturals) with higher margins.</a:t>
            </a:r>
          </a:p>
          <a:p>
            <a:r>
              <a:rPr lang="en-IN" b="1" dirty="0" smtClean="0"/>
              <a:t>Content + Commerce Strategy</a:t>
            </a:r>
            <a:r>
              <a:rPr lang="en-IN" dirty="0" smtClean="0"/>
              <a:t> – Beauty blogs, tutorials, and influencer collaborations drive engagement and conversion.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30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Market Position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Leading Online Beauty Retailer in India</a:t>
            </a:r>
            <a:r>
              <a:rPr lang="en-US" dirty="0" smtClean="0"/>
              <a:t> with strong brand recall.</a:t>
            </a:r>
          </a:p>
          <a:p>
            <a:r>
              <a:rPr lang="en-US" dirty="0" smtClean="0"/>
              <a:t>Competes with </a:t>
            </a:r>
            <a:r>
              <a:rPr lang="en-US" b="1" dirty="0" smtClean="0"/>
              <a:t>Amazon Beauty, </a:t>
            </a:r>
            <a:r>
              <a:rPr lang="en-US" b="1" dirty="0" err="1" smtClean="0"/>
              <a:t>Flipkart</a:t>
            </a:r>
            <a:r>
              <a:rPr lang="en-US" b="1" dirty="0" smtClean="0"/>
              <a:t>, </a:t>
            </a:r>
            <a:r>
              <a:rPr lang="en-US" b="1" dirty="0" err="1" smtClean="0"/>
              <a:t>Myntra</a:t>
            </a:r>
            <a:r>
              <a:rPr lang="en-US" b="1" dirty="0" smtClean="0"/>
              <a:t>, </a:t>
            </a:r>
            <a:r>
              <a:rPr lang="en-US" b="1" dirty="0" err="1" smtClean="0"/>
              <a:t>Purplle</a:t>
            </a:r>
            <a:r>
              <a:rPr lang="en-US" b="1" dirty="0" smtClean="0"/>
              <a:t>, and Sephora India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Differentiates by </a:t>
            </a:r>
            <a:r>
              <a:rPr lang="en-US" b="1" dirty="0" smtClean="0"/>
              <a:t>curating authentic products</a:t>
            </a:r>
            <a:r>
              <a:rPr lang="en-US" dirty="0" smtClean="0"/>
              <a:t> and building </a:t>
            </a:r>
            <a:r>
              <a:rPr lang="en-US" b="1" dirty="0" smtClean="0"/>
              <a:t>trust</a:t>
            </a:r>
            <a:r>
              <a:rPr lang="en-US" dirty="0" smtClean="0"/>
              <a:t> in a market plagued by counterfeit goods.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Financial Snapshot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err="1" smtClean="0"/>
              <a:t>Nykaa’s</a:t>
            </a:r>
            <a:r>
              <a:rPr lang="en-US" sz="3100" dirty="0" smtClean="0"/>
              <a:t> Revenue Growth Trends</a:t>
            </a:r>
            <a:endParaRPr lang="en-IN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17384"/>
            <a:ext cx="4608512" cy="446449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Annual Revenue (FY21–FY24)</a:t>
            </a:r>
          </a:p>
          <a:p>
            <a:r>
              <a:rPr lang="en-US" b="1" dirty="0" smtClean="0"/>
              <a:t>FY21</a:t>
            </a:r>
            <a:r>
              <a:rPr lang="en-US" dirty="0" smtClean="0"/>
              <a:t>: </a:t>
            </a:r>
            <a:r>
              <a:rPr lang="en-US" dirty="0" err="1" smtClean="0"/>
              <a:t>Nykaa</a:t>
            </a:r>
            <a:r>
              <a:rPr lang="en-US" dirty="0" smtClean="0"/>
              <a:t> posted its </a:t>
            </a:r>
            <a:r>
              <a:rPr lang="en-US" b="1" dirty="0" smtClean="0"/>
              <a:t>first net profit</a:t>
            </a:r>
            <a:r>
              <a:rPr lang="en-US" dirty="0" smtClean="0"/>
              <a:t> of approximately ₹61.9 </a:t>
            </a:r>
            <a:r>
              <a:rPr lang="en-US" dirty="0" err="1" smtClean="0"/>
              <a:t>crore</a:t>
            </a:r>
            <a:r>
              <a:rPr lang="en-US" dirty="0" smtClean="0"/>
              <a:t>, with revenue rising sharply by 55% </a:t>
            </a:r>
            <a:r>
              <a:rPr lang="en-US" dirty="0" err="1" smtClean="0"/>
              <a:t>YoY</a:t>
            </a:r>
            <a:r>
              <a:rPr lang="en-US" dirty="0" smtClean="0"/>
              <a:t> to around ₹3,774 </a:t>
            </a:r>
            <a:r>
              <a:rPr lang="en-US" dirty="0" err="1" smtClean="0"/>
              <a:t>crore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FY22</a:t>
            </a:r>
            <a:r>
              <a:rPr lang="en-US" dirty="0" smtClean="0"/>
              <a:t>: Continued expansion led to dual-digit growth in both revenue and GMV. </a:t>
            </a:r>
          </a:p>
          <a:p>
            <a:r>
              <a:rPr lang="en-US" b="1" dirty="0" smtClean="0"/>
              <a:t>FY23</a:t>
            </a:r>
            <a:r>
              <a:rPr lang="en-US" dirty="0" smtClean="0"/>
              <a:t>: Revenue grew by 36% to ₹5,144 </a:t>
            </a:r>
            <a:r>
              <a:rPr lang="en-US" dirty="0" err="1" smtClean="0"/>
              <a:t>crore</a:t>
            </a:r>
            <a:r>
              <a:rPr lang="en-US" dirty="0" smtClean="0"/>
              <a:t>, but net profit more than halved to ₹19 </a:t>
            </a:r>
            <a:r>
              <a:rPr lang="en-US" dirty="0" err="1" smtClean="0"/>
              <a:t>crore</a:t>
            </a:r>
            <a:r>
              <a:rPr lang="en-US" dirty="0" smtClean="0"/>
              <a:t> due to rising expenses. </a:t>
            </a:r>
          </a:p>
          <a:p>
            <a:r>
              <a:rPr lang="en-US" b="1" dirty="0" smtClean="0"/>
              <a:t>FY24</a:t>
            </a:r>
            <a:r>
              <a:rPr lang="en-US" dirty="0" smtClean="0"/>
              <a:t>: Revenue increased 24% to ₹6,386 </a:t>
            </a:r>
            <a:r>
              <a:rPr lang="en-US" dirty="0" err="1" smtClean="0"/>
              <a:t>crore</a:t>
            </a:r>
            <a:r>
              <a:rPr lang="en-US" dirty="0" smtClean="0"/>
              <a:t>, and PAT nearly doubled to ₹40 </a:t>
            </a:r>
            <a:r>
              <a:rPr lang="en-US" dirty="0" err="1" smtClean="0"/>
              <a:t>crore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FY25</a:t>
            </a:r>
            <a:r>
              <a:rPr lang="en-US" dirty="0" smtClean="0"/>
              <a:t>: Yet another 24% growth brought revenue to ₹7,950 </a:t>
            </a:r>
            <a:r>
              <a:rPr lang="en-US" dirty="0" err="1" smtClean="0"/>
              <a:t>crore</a:t>
            </a:r>
            <a:r>
              <a:rPr lang="en-US" dirty="0" smtClean="0"/>
              <a:t>, with profit climbing to ₹72–74 </a:t>
            </a:r>
            <a:r>
              <a:rPr lang="en-US" dirty="0" err="1" smtClean="0"/>
              <a:t>crore</a:t>
            </a:r>
            <a:r>
              <a:rPr lang="en-US" dirty="0" smtClean="0"/>
              <a:t>. EBITDA margins also improved notably. 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280" y="1772816"/>
            <a:ext cx="4154712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770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SWOT ANALYSIS</a:t>
            </a:r>
            <a:endParaRPr lang="en-IN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84784"/>
            <a:ext cx="5472608" cy="4339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2671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Strengths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sz="3200" dirty="0" smtClean="0"/>
              <a:t>(Internal Positive Factors)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00808"/>
            <a:ext cx="8363272" cy="4525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Strong Brand Equity</a:t>
            </a:r>
            <a:r>
              <a:rPr lang="en-US" dirty="0" smtClean="0"/>
              <a:t> – </a:t>
            </a:r>
            <a:r>
              <a:rPr lang="en-US" dirty="0" err="1" smtClean="0"/>
              <a:t>Nykaa</a:t>
            </a:r>
            <a:r>
              <a:rPr lang="en-US" dirty="0" smtClean="0"/>
              <a:t> is a well-recognized beauty and lifestyle brand in India, trusted by millions of consumers.</a:t>
            </a:r>
          </a:p>
          <a:p>
            <a:r>
              <a:rPr lang="en-US" b="1" dirty="0" smtClean="0"/>
              <a:t>Wide Product Range</a:t>
            </a:r>
            <a:r>
              <a:rPr lang="en-US" dirty="0" smtClean="0"/>
              <a:t> – Offers cosmetics, skincare, personal care, fashion, and luxury products from global and domestic brands.</a:t>
            </a:r>
          </a:p>
          <a:p>
            <a:r>
              <a:rPr lang="en-US" b="1" dirty="0" err="1" smtClean="0"/>
              <a:t>Omnichannel</a:t>
            </a:r>
            <a:r>
              <a:rPr lang="en-US" b="1" dirty="0" smtClean="0"/>
              <a:t> Presence</a:t>
            </a:r>
            <a:r>
              <a:rPr lang="en-US" dirty="0" smtClean="0"/>
              <a:t> – Strong online marketplace combined with offline retail stores.</a:t>
            </a:r>
          </a:p>
          <a:p>
            <a:r>
              <a:rPr lang="en-US" b="1" dirty="0" smtClean="0"/>
              <a:t>Celebrity &amp; Influencer Backing</a:t>
            </a:r>
            <a:r>
              <a:rPr lang="en-US" dirty="0" smtClean="0"/>
              <a:t> – Effective use of influencers and Bollywood partnerships to attract customers.</a:t>
            </a:r>
          </a:p>
          <a:p>
            <a:r>
              <a:rPr lang="en-US" b="1" dirty="0" smtClean="0"/>
              <a:t>First-Mover Advantage</a:t>
            </a:r>
            <a:r>
              <a:rPr lang="en-US" dirty="0" smtClean="0"/>
              <a:t> – One of the earliest players in online beauty retail in India, creating customer loyalty.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75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Weaknesses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sz="3200" dirty="0" smtClean="0"/>
              <a:t>(Internal Negative Factors)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496944" cy="4525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High Competition in Pricing</a:t>
            </a:r>
            <a:r>
              <a:rPr lang="en-US" dirty="0" smtClean="0"/>
              <a:t> – Competes with Amazon, </a:t>
            </a:r>
            <a:r>
              <a:rPr lang="en-US" dirty="0" err="1" smtClean="0"/>
              <a:t>Flipkart</a:t>
            </a:r>
            <a:r>
              <a:rPr lang="en-US" dirty="0" smtClean="0"/>
              <a:t>, </a:t>
            </a:r>
            <a:r>
              <a:rPr lang="en-US" dirty="0" err="1" smtClean="0"/>
              <a:t>Myntra</a:t>
            </a:r>
            <a:r>
              <a:rPr lang="en-US" dirty="0" smtClean="0"/>
              <a:t>, and brand-owned websites that offer heavy discounts.</a:t>
            </a:r>
          </a:p>
          <a:p>
            <a:r>
              <a:rPr lang="en-US" b="1" dirty="0" smtClean="0"/>
              <a:t>High Marketing Spend</a:t>
            </a:r>
            <a:r>
              <a:rPr lang="en-US" dirty="0" smtClean="0"/>
              <a:t> – Heavy reliance on promotions and influencer campaigns increases costs.</a:t>
            </a:r>
          </a:p>
          <a:p>
            <a:r>
              <a:rPr lang="en-US" b="1" dirty="0" smtClean="0"/>
              <a:t>Low International Presence</a:t>
            </a:r>
            <a:r>
              <a:rPr lang="en-US" dirty="0" smtClean="0"/>
              <a:t> – Limited global operations compared to players like Sephora.</a:t>
            </a:r>
          </a:p>
          <a:p>
            <a:r>
              <a:rPr lang="en-US" b="1" dirty="0" smtClean="0"/>
              <a:t>Logistics Challenges</a:t>
            </a:r>
            <a:r>
              <a:rPr lang="en-US" dirty="0" smtClean="0"/>
              <a:t> – Ensuring timely delivery in Tier-2 and Tier-3 cities can be difficult.</a:t>
            </a:r>
          </a:p>
          <a:p>
            <a:r>
              <a:rPr lang="en-US" b="1" dirty="0" smtClean="0"/>
              <a:t>Dependency on E-commerce</a:t>
            </a:r>
            <a:r>
              <a:rPr lang="en-US" dirty="0" smtClean="0"/>
              <a:t> – Vulnerable to changes in consumer buying behavior or digital regulations.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711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Opportunities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sz="3200" dirty="0" smtClean="0"/>
              <a:t>(External Positive Factors)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Growing E-commerce Market in India</a:t>
            </a:r>
            <a:r>
              <a:rPr lang="en-US" dirty="0" smtClean="0"/>
              <a:t> – Increasing internet penetration and digital payments boost online shopping.</a:t>
            </a:r>
          </a:p>
          <a:p>
            <a:r>
              <a:rPr lang="en-US" b="1" dirty="0" smtClean="0"/>
              <a:t>Expansion into Fashion &amp; Lifestyle</a:t>
            </a:r>
            <a:r>
              <a:rPr lang="en-US" dirty="0" smtClean="0"/>
              <a:t> – </a:t>
            </a:r>
            <a:r>
              <a:rPr lang="en-US" dirty="0" err="1" smtClean="0"/>
              <a:t>Nykaa</a:t>
            </a:r>
            <a:r>
              <a:rPr lang="en-US" dirty="0" smtClean="0"/>
              <a:t> Fashion provides opportunities to diversify revenue.</a:t>
            </a:r>
          </a:p>
          <a:p>
            <a:r>
              <a:rPr lang="en-US" b="1" dirty="0" smtClean="0"/>
              <a:t>Rising Beauty &amp; Personal Care Demand</a:t>
            </a:r>
            <a:r>
              <a:rPr lang="en-US" dirty="0" smtClean="0"/>
              <a:t> – India’s young population and growing disposable incomes fuel demand.</a:t>
            </a:r>
          </a:p>
          <a:p>
            <a:r>
              <a:rPr lang="en-US" b="1" dirty="0" smtClean="0"/>
              <a:t>International Expansion</a:t>
            </a:r>
            <a:r>
              <a:rPr lang="en-US" dirty="0" smtClean="0"/>
              <a:t> – Scope to enter global beauty and fashion markets.</a:t>
            </a:r>
          </a:p>
          <a:p>
            <a:r>
              <a:rPr lang="en-US" b="1" dirty="0" smtClean="0"/>
              <a:t>Sustainability &amp; Clean Beauty</a:t>
            </a:r>
            <a:r>
              <a:rPr lang="en-US" dirty="0" smtClean="0"/>
              <a:t> – Growing demand for eco-friendly, cruelty-free, and organic products.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3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Threats</a:t>
            </a:r>
            <a:r>
              <a:rPr lang="en-IN" dirty="0" smtClean="0"/>
              <a:t> </a:t>
            </a:r>
            <a:br>
              <a:rPr lang="en-IN" dirty="0" smtClean="0"/>
            </a:br>
            <a:r>
              <a:rPr lang="en-IN" sz="3200" dirty="0" smtClean="0"/>
              <a:t>(External Negative Factors)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Intense Competition</a:t>
            </a:r>
            <a:r>
              <a:rPr lang="en-US" dirty="0" smtClean="0"/>
              <a:t> – From e-commerce giants, local startups, and international beauty retailers.</a:t>
            </a:r>
          </a:p>
          <a:p>
            <a:r>
              <a:rPr lang="en-US" b="1" dirty="0" smtClean="0"/>
              <a:t>Economic Downturns</a:t>
            </a:r>
            <a:r>
              <a:rPr lang="en-US" dirty="0" smtClean="0"/>
              <a:t> – Reduced spending on non-essential luxury products during inflation or recession.</a:t>
            </a:r>
          </a:p>
          <a:p>
            <a:r>
              <a:rPr lang="en-US" b="1" dirty="0" smtClean="0"/>
              <a:t>Changing Consumer Preferences</a:t>
            </a:r>
            <a:r>
              <a:rPr lang="en-US" dirty="0" smtClean="0"/>
              <a:t> – Fast-evolving beauty trends may reduce demand for existing products.</a:t>
            </a:r>
          </a:p>
          <a:p>
            <a:r>
              <a:rPr lang="en-US" b="1" dirty="0" smtClean="0"/>
              <a:t>Counterfeit Products Risk</a:t>
            </a:r>
            <a:r>
              <a:rPr lang="en-US" dirty="0" smtClean="0"/>
              <a:t> – Fake or low-quality products could damage brand reputation.</a:t>
            </a:r>
          </a:p>
          <a:p>
            <a:r>
              <a:rPr lang="en-US" b="1" dirty="0" smtClean="0"/>
              <a:t>Regulatory Challenges</a:t>
            </a:r>
            <a:r>
              <a:rPr lang="en-US" dirty="0" smtClean="0"/>
              <a:t> – Import/export restrictions, data privacy laws, and e-commerce regulations could impact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88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 smtClean="0"/>
              <a:t>Key Strategies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1. Expansion</a:t>
            </a:r>
          </a:p>
          <a:p>
            <a:r>
              <a:rPr lang="en-IN" dirty="0" smtClean="0"/>
              <a:t>Strengthening offline presence with </a:t>
            </a:r>
            <a:r>
              <a:rPr lang="en-IN" b="1" dirty="0" smtClean="0"/>
              <a:t>150+ retail stores</a:t>
            </a:r>
            <a:r>
              <a:rPr lang="en-IN" dirty="0" smtClean="0"/>
              <a:t> across metros &amp; Tier-2 cities.</a:t>
            </a:r>
          </a:p>
          <a:p>
            <a:r>
              <a:rPr lang="en-IN" dirty="0" smtClean="0"/>
              <a:t>Expanding </a:t>
            </a:r>
            <a:r>
              <a:rPr lang="en-IN" b="1" dirty="0" smtClean="0"/>
              <a:t>fashion, wellness &amp; men’s grooming</a:t>
            </a:r>
            <a:r>
              <a:rPr lang="en-IN" dirty="0" smtClean="0"/>
              <a:t> verticals alongside core beauty business.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2. Digital Marketing &amp; Brand Building</a:t>
            </a:r>
          </a:p>
          <a:p>
            <a:r>
              <a:rPr lang="en-IN" dirty="0" smtClean="0"/>
              <a:t>Heavy use of </a:t>
            </a:r>
            <a:r>
              <a:rPr lang="en-IN" b="1" dirty="0" smtClean="0"/>
              <a:t>influencer-driven campaigns</a:t>
            </a:r>
            <a:r>
              <a:rPr lang="en-IN" dirty="0" smtClean="0"/>
              <a:t> (YouTube, </a:t>
            </a:r>
            <a:r>
              <a:rPr lang="en-IN" dirty="0" err="1" smtClean="0"/>
              <a:t>Instagram</a:t>
            </a:r>
            <a:r>
              <a:rPr lang="en-IN" dirty="0" smtClean="0"/>
              <a:t>, </a:t>
            </a:r>
            <a:r>
              <a:rPr lang="en-IN" dirty="0" err="1" smtClean="0"/>
              <a:t>Nykaa</a:t>
            </a:r>
            <a:r>
              <a:rPr lang="en-IN" dirty="0" smtClean="0"/>
              <a:t> Army).</a:t>
            </a:r>
          </a:p>
          <a:p>
            <a:r>
              <a:rPr lang="en-IN" dirty="0" smtClean="0"/>
              <a:t>Building strong </a:t>
            </a:r>
            <a:r>
              <a:rPr lang="en-IN" b="1" dirty="0" smtClean="0"/>
              <a:t>loyalty programs (</a:t>
            </a:r>
            <a:r>
              <a:rPr lang="en-IN" b="1" dirty="0" err="1" smtClean="0"/>
              <a:t>Nykaa</a:t>
            </a:r>
            <a:r>
              <a:rPr lang="en-IN" b="1" dirty="0" smtClean="0"/>
              <a:t> </a:t>
            </a:r>
            <a:r>
              <a:rPr lang="en-IN" b="1" dirty="0" err="1" smtClean="0"/>
              <a:t>Prive</a:t>
            </a:r>
            <a:r>
              <a:rPr lang="en-IN" b="1" dirty="0" smtClean="0"/>
              <a:t>)</a:t>
            </a:r>
            <a:r>
              <a:rPr lang="en-IN" dirty="0" smtClean="0"/>
              <a:t> to retain high-value customers.</a:t>
            </a:r>
          </a:p>
          <a:p>
            <a:r>
              <a:rPr lang="en-IN" dirty="0" smtClean="0"/>
              <a:t>Personalized content &amp; beauty tutorials to boost engagement.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3. Private Labels</a:t>
            </a:r>
          </a:p>
          <a:p>
            <a:r>
              <a:rPr lang="en-IN" dirty="0" smtClean="0"/>
              <a:t>Growing </a:t>
            </a:r>
            <a:r>
              <a:rPr lang="en-IN" b="1" dirty="0" smtClean="0"/>
              <a:t>in-house brands</a:t>
            </a:r>
            <a:r>
              <a:rPr lang="en-IN" dirty="0" smtClean="0"/>
              <a:t> like </a:t>
            </a:r>
            <a:r>
              <a:rPr lang="en-IN" dirty="0" err="1" smtClean="0"/>
              <a:t>Nykaa</a:t>
            </a:r>
            <a:r>
              <a:rPr lang="en-IN" dirty="0" smtClean="0"/>
              <a:t> Cosmetics, </a:t>
            </a:r>
            <a:r>
              <a:rPr lang="en-IN" dirty="0" err="1" smtClean="0"/>
              <a:t>Nykaa</a:t>
            </a:r>
            <a:r>
              <a:rPr lang="en-IN" dirty="0" smtClean="0"/>
              <a:t> Naturals, Kay Beauty (Katrina </a:t>
            </a:r>
            <a:r>
              <a:rPr lang="en-IN" dirty="0" err="1" smtClean="0"/>
              <a:t>Kaif</a:t>
            </a:r>
            <a:r>
              <a:rPr lang="en-IN" dirty="0" smtClean="0"/>
              <a:t>).</a:t>
            </a:r>
          </a:p>
          <a:p>
            <a:r>
              <a:rPr lang="en-IN" dirty="0" smtClean="0"/>
              <a:t>Higher margins </a:t>
            </a:r>
            <a:r>
              <a:rPr lang="en-IN" dirty="0" err="1" smtClean="0"/>
              <a:t>vs</a:t>
            </a:r>
            <a:r>
              <a:rPr lang="en-IN" dirty="0" smtClean="0"/>
              <a:t> third-party products → boosts profitability.</a:t>
            </a:r>
          </a:p>
          <a:p>
            <a:r>
              <a:rPr lang="en-IN" dirty="0" smtClean="0"/>
              <a:t>Positioning private labels in </a:t>
            </a:r>
            <a:r>
              <a:rPr lang="en-IN" b="1" dirty="0" smtClean="0"/>
              <a:t>affordable + premium categories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 smtClean="0"/>
              <a:t>4. Technology &amp; Personalization</a:t>
            </a:r>
          </a:p>
          <a:p>
            <a:r>
              <a:rPr lang="en-IN" dirty="0" smtClean="0"/>
              <a:t>AI/ML-driven </a:t>
            </a:r>
            <a:r>
              <a:rPr lang="en-IN" b="1" dirty="0" smtClean="0"/>
              <a:t>product recommendations &amp; virtual try-on tools</a:t>
            </a:r>
            <a:r>
              <a:rPr lang="en-IN" dirty="0" smtClean="0"/>
              <a:t>.</a:t>
            </a:r>
          </a:p>
          <a:p>
            <a:r>
              <a:rPr lang="en-IN" dirty="0" smtClean="0"/>
              <a:t>Data-driven personalization for shopping experience.</a:t>
            </a:r>
          </a:p>
          <a:p>
            <a:r>
              <a:rPr lang="en-IN" dirty="0" smtClean="0"/>
              <a:t>Seamless </a:t>
            </a:r>
            <a:r>
              <a:rPr lang="en-IN" b="1" dirty="0" err="1" smtClean="0"/>
              <a:t>omnichannel</a:t>
            </a:r>
            <a:r>
              <a:rPr lang="en-IN" b="1" dirty="0" smtClean="0"/>
              <a:t> integration</a:t>
            </a:r>
            <a:r>
              <a:rPr lang="en-IN" dirty="0" smtClean="0"/>
              <a:t> between app, website &amp; offline stores.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17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Conclusion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Summary</a:t>
            </a:r>
          </a:p>
          <a:p>
            <a:r>
              <a:rPr lang="en-US" dirty="0" err="1" smtClean="0"/>
              <a:t>Nykaa</a:t>
            </a:r>
            <a:r>
              <a:rPr lang="en-US" dirty="0" smtClean="0"/>
              <a:t> has built a </a:t>
            </a:r>
            <a:r>
              <a:rPr lang="en-US" b="1" dirty="0" smtClean="0"/>
              <a:t>strong brand presence</a:t>
            </a:r>
            <a:r>
              <a:rPr lang="en-US" dirty="0" smtClean="0"/>
              <a:t> in India’s beauty &amp; lifestyle market.</a:t>
            </a:r>
          </a:p>
          <a:p>
            <a:r>
              <a:rPr lang="en-US" dirty="0" smtClean="0"/>
              <a:t>Its </a:t>
            </a:r>
            <a:r>
              <a:rPr lang="en-US" b="1" dirty="0" err="1" smtClean="0"/>
              <a:t>omnichannel</a:t>
            </a:r>
            <a:r>
              <a:rPr lang="en-US" b="1" dirty="0" smtClean="0"/>
              <a:t> model</a:t>
            </a:r>
            <a:r>
              <a:rPr lang="en-US" dirty="0" smtClean="0"/>
              <a:t> (online + offline) ensures wide reach and customer trust.</a:t>
            </a:r>
          </a:p>
          <a:p>
            <a:r>
              <a:rPr lang="en-US" dirty="0" smtClean="0"/>
              <a:t>Despite </a:t>
            </a:r>
            <a:r>
              <a:rPr lang="en-US" b="1" dirty="0" smtClean="0"/>
              <a:t>profitability challenges</a:t>
            </a:r>
            <a:r>
              <a:rPr lang="en-US" dirty="0" smtClean="0"/>
              <a:t> due to high costs, the company continues to show steady revenue growth.</a:t>
            </a:r>
          </a:p>
          <a:p>
            <a:r>
              <a:rPr lang="en-US" dirty="0" smtClean="0"/>
              <a:t>Expansion into </a:t>
            </a:r>
            <a:r>
              <a:rPr lang="en-US" b="1" dirty="0" smtClean="0"/>
              <a:t>fashion, men’s grooming, and wellness</a:t>
            </a:r>
            <a:r>
              <a:rPr lang="en-US" dirty="0" smtClean="0"/>
              <a:t> diversifies its portfolio.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Growth Outlook</a:t>
            </a:r>
          </a:p>
          <a:p>
            <a:r>
              <a:rPr lang="en-US" b="1" dirty="0" smtClean="0"/>
              <a:t>Sustained revenue growth</a:t>
            </a:r>
            <a:r>
              <a:rPr lang="en-US" dirty="0" smtClean="0"/>
              <a:t> expected from Tier-2 &amp; Tier-3 cities.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Private labels &amp; exclusive partnerships</a:t>
            </a:r>
            <a:r>
              <a:rPr lang="en-US" dirty="0" smtClean="0"/>
              <a:t> will strengthen margins.</a:t>
            </a:r>
          </a:p>
          <a:p>
            <a:r>
              <a:rPr lang="en-US" b="1" dirty="0" smtClean="0"/>
              <a:t>AI-driven personalization &amp; digital innovation</a:t>
            </a:r>
            <a:r>
              <a:rPr lang="en-US" dirty="0" smtClean="0"/>
              <a:t> will enhance customer loyalty.</a:t>
            </a:r>
          </a:p>
          <a:p>
            <a:r>
              <a:rPr lang="en-US" dirty="0" smtClean="0"/>
              <a:t>Long-term potential in </a:t>
            </a:r>
            <a:r>
              <a:rPr lang="en-US" b="1" dirty="0" smtClean="0"/>
              <a:t>luxury, international expansion, and lifestyle segments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Nykaa</a:t>
            </a:r>
            <a:r>
              <a:rPr lang="en-US" b="1" dirty="0" smtClean="0"/>
              <a:t> is positioned to remain a leader in India’s beauty and lifestyle e-commerce, with strong opportunities for expansion and digital-led growth.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405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904</Words>
  <Application>Microsoft Office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NYKAA ANALYSIS</vt:lpstr>
      <vt:lpstr>AGENDA</vt:lpstr>
      <vt:lpstr>Company Overview</vt:lpstr>
      <vt:lpstr>Business Model</vt:lpstr>
      <vt:lpstr>Market Position</vt:lpstr>
      <vt:lpstr>Financial Snapshot  Nykaa’s Revenue Growth Trends</vt:lpstr>
      <vt:lpstr>SWOT ANALYSIS</vt:lpstr>
      <vt:lpstr>Strengths  (Internal Positive Factors)</vt:lpstr>
      <vt:lpstr>Weaknesses  (Internal Negative Factors)</vt:lpstr>
      <vt:lpstr>Opportunities (External Positive Factors)</vt:lpstr>
      <vt:lpstr>Threats  (External Negative Factors)</vt:lpstr>
      <vt:lpstr>Key Strategies</vt:lpstr>
      <vt:lpstr>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NYKAA ANALYSIS</dc:title>
  <dc:creator>Kcr Kamal</dc:creator>
  <cp:lastModifiedBy>Kcr Kamal</cp:lastModifiedBy>
  <cp:revision>5</cp:revision>
  <dcterms:created xsi:type="dcterms:W3CDTF">2025-09-05T14:50:34Z</dcterms:created>
  <dcterms:modified xsi:type="dcterms:W3CDTF">2025-09-05T15:40:08Z</dcterms:modified>
</cp:coreProperties>
</file>